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b868c1ef7724d98" /><Relationship Type="http://schemas.openxmlformats.org/officeDocument/2006/relationships/extended-properties" Target="/docProps/app.xml" Id="R98607ea299fa48e5" /><Relationship Type="http://schemas.openxmlformats.org/officeDocument/2006/relationships/officeDocument" Target="/ppt/presentation.xml" Id="Rfe8dc403e62d445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a7367179d174aa5"/>
  </p:sldMasterIdLst>
  <p:notesMasterIdLst>
    <p:notesMasterId xmlns:r="http://schemas.openxmlformats.org/officeDocument/2006/relationships" r:id="Rba2ebf6d4df74e08"/>
  </p:notesMasterIdLst>
  <p:sldIdLst>
    <p:sldId xmlns:r="http://schemas.openxmlformats.org/officeDocument/2006/relationships" id="256" r:id="R9dbd64c6d97f4116"/>
    <p:sldId xmlns:r="http://schemas.openxmlformats.org/officeDocument/2006/relationships" id="257" r:id="Rf06c5a114c994d81"/>
    <p:sldId xmlns:r="http://schemas.openxmlformats.org/officeDocument/2006/relationships" id="258" r:id="R82d5fd8f10044c14"/>
    <p:sldId xmlns:r="http://schemas.openxmlformats.org/officeDocument/2006/relationships" id="259" r:id="Rf63098889fbf4e23"/>
    <p:sldId xmlns:r="http://schemas.openxmlformats.org/officeDocument/2006/relationships" id="260" r:id="Ra328dad01d3140a0"/>
    <p:sldId xmlns:r="http://schemas.openxmlformats.org/officeDocument/2006/relationships" id="261" r:id="R2d496d1cdc424f67"/>
    <p:sldId xmlns:r="http://schemas.openxmlformats.org/officeDocument/2006/relationships" id="262" r:id="R2cedefbef27f4dea"/>
    <p:sldId xmlns:r="http://schemas.openxmlformats.org/officeDocument/2006/relationships" id="263" r:id="R2a87556af89c4c95"/>
    <p:sldId xmlns:r="http://schemas.openxmlformats.org/officeDocument/2006/relationships" id="264" r:id="R21d51bee85c04b7d"/>
    <p:sldId xmlns:r="http://schemas.openxmlformats.org/officeDocument/2006/relationships" id="265" r:id="R58e49c5e5fea4f6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e49ef0ccc87439e" /><Relationship Type="http://schemas.openxmlformats.org/officeDocument/2006/relationships/slideMaster" Target="/ppt/slideMasters/slideMaster1.xml" Id="R3a7367179d174aa5" /><Relationship Type="http://schemas.openxmlformats.org/officeDocument/2006/relationships/notesMaster" Target="/ppt/notesMasters/notesMaster1.xml" Id="Rba2ebf6d4df74e08" /><Relationship Type="http://schemas.openxmlformats.org/officeDocument/2006/relationships/presProps" Target="/ppt/presProps.xml" Id="R2d519942d3b64f4f" /><Relationship Type="http://schemas.openxmlformats.org/officeDocument/2006/relationships/tableStyles" Target="/ppt/tableStyles.xml" Id="Rde2fd15ef309436d" /><Relationship Type="http://schemas.openxmlformats.org/officeDocument/2006/relationships/slide" Target="/ppt/slides/slide1.xml" Id="R9dbd64c6d97f4116" /><Relationship Type="http://schemas.openxmlformats.org/officeDocument/2006/relationships/slide" Target="/ppt/slides/slide2.xml" Id="Rf06c5a114c994d81" /><Relationship Type="http://schemas.openxmlformats.org/officeDocument/2006/relationships/slide" Target="/ppt/slides/slide3.xml" Id="R82d5fd8f10044c14" /><Relationship Type="http://schemas.openxmlformats.org/officeDocument/2006/relationships/slide" Target="/ppt/slides/slide4.xml" Id="Rf63098889fbf4e23" /><Relationship Type="http://schemas.openxmlformats.org/officeDocument/2006/relationships/slide" Target="/ppt/slides/slide5.xml" Id="Ra328dad01d3140a0" /><Relationship Type="http://schemas.openxmlformats.org/officeDocument/2006/relationships/slide" Target="/ppt/slides/slide6.xml" Id="R2d496d1cdc424f67" /><Relationship Type="http://schemas.openxmlformats.org/officeDocument/2006/relationships/slide" Target="/ppt/slides/slide7.xml" Id="R2cedefbef27f4dea" /><Relationship Type="http://schemas.openxmlformats.org/officeDocument/2006/relationships/slide" Target="/ppt/slides/slide8.xml" Id="R2a87556af89c4c95" /><Relationship Type="http://schemas.openxmlformats.org/officeDocument/2006/relationships/slide" Target="/ppt/slides/slide9.xml" Id="R21d51bee85c04b7d" /><Relationship Type="http://schemas.openxmlformats.org/officeDocument/2006/relationships/slide" Target="/ppt/slides/slide10.xml" Id="R58e49c5e5fea4f6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10e2718f19f4da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Liberation Sans"/>
        <a:ea typeface=""/>
        <a:cs typeface=""/>
      </a:majorFont>
      <a:minorFont>
        <a:latin typeface="Liberation San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ec7e87368e84424" /><Relationship Type="http://schemas.openxmlformats.org/officeDocument/2006/relationships/notesMaster" Target="/ppt/notesMasters/notesMaster1.xml" Id="R8b49070ef75a483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cb361c342f146b7" /><Relationship Type="http://schemas.openxmlformats.org/officeDocument/2006/relationships/notesMaster" Target="/ppt/notesMasters/notesMaster1.xml" Id="R0776263fda69449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0f6c1ce03854575" /><Relationship Type="http://schemas.openxmlformats.org/officeDocument/2006/relationships/notesMaster" Target="/ppt/notesMasters/notesMaster1.xml" Id="R956b1663fa5848a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b41828d003f4294" /><Relationship Type="http://schemas.openxmlformats.org/officeDocument/2006/relationships/notesMaster" Target="/ppt/notesMasters/notesMaster1.xml" Id="Rfd8f997036bf47b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7ef4e263ee340bd" /><Relationship Type="http://schemas.openxmlformats.org/officeDocument/2006/relationships/notesMaster" Target="/ppt/notesMasters/notesMaster1.xml" Id="Rb2f37410527b4b3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2fdec24b80148bf" /><Relationship Type="http://schemas.openxmlformats.org/officeDocument/2006/relationships/notesMaster" Target="/ppt/notesMasters/notesMaster1.xml" Id="R1376cef78d49423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0c9f39ae53b4310" /><Relationship Type="http://schemas.openxmlformats.org/officeDocument/2006/relationships/notesMaster" Target="/ppt/notesMasters/notesMaster1.xml" Id="R68bab865acad45f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de515936d6248d6" /><Relationship Type="http://schemas.openxmlformats.org/officeDocument/2006/relationships/notesMaster" Target="/ppt/notesMasters/notesMaster1.xml" Id="Rb35e60518e0d4d8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077ced865fb45b5" /><Relationship Type="http://schemas.openxmlformats.org/officeDocument/2006/relationships/notesMaster" Target="/ppt/notesMasters/notesMaster1.xml" Id="R976281a1832b400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ca025633b9740c9" /><Relationship Type="http://schemas.openxmlformats.org/officeDocument/2006/relationships/notesMaster" Target="/ppt/notesMasters/notesMaster1.xml" Id="R5b29f05bd8eb473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scope: docs/design/final-build-day.md. Synthetic material only. Deck figures must come from retained final Runs.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GLOSSARY.md; PRODUCT.md; cases/case_01/source.txt. The quoted sentence is a synthetic fixture. No efficiency or market-size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Screenshot: local P6 deterministic browser run on 17 October 2026. Source: submission/assets/showcase-case-04.png. Curated ideal fixture, not a recorded model result or deployed build.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docs/CODE_STYLE.md; ADR0008; ADR0009; approved final-build-day design. Fixed Extract/Resolve/Construct topology. Application uses approved no-resolution configuration.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canonical_state.py; models/source.py; models/sourced_evidence.py; cases/case_04/source_evidence.json. Title is display text, not source identity.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cases/case_05/sources/note_01.txt and note_02.txt. Source-aware expected_state.json is an authored ideal. Dates refer to fictional events.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README.md Research Workbench; docs/design/final-build-day.md; research/final-day/validation. Deterministic tests substitute only the model boundary.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 held-out Run has been supplied. This draft makes no final extraction-quality claim. Authored ideal fixtures do not measure model performance.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AGENTS.md; synthetic authoring workflow; independent case-review summaries; retained Run failures when supplied. Current authentication does not authorize real confidential client data.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Public deployment URL: https://private-client-graph-production.up.railway.app</a:t>
            </a:r>
          </a:p>
          <a:p xmlns:a="http://schemas.openxmlformats.org/drawingml/2006/main">
            <a:r>
              <a:t>Multi-source public deployment verified: false. Local screenshot assets demonstrate the reviewed P6 build. Current deployed service predates that build unless verification is supplied.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71c53d6ae494bf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d4c48356b6e4e4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45b48f5220e4c3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43b0519ea224d1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8d2411c505d44b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4bea72c45c24c5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F2CBA56-8323-4DE5-A933-A121A8652AE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B773E853-BAA2-4DBA-87F0-11448DFAE80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BFBDE94C-CB28-4F37-B0D8-436BDACA0C3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DEF9B6D-D072-4924-84D7-F6E584A9071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1B62C01-530C-4763-895A-091C05CEE76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E5BFC31-7D13-4D7D-815D-4DF4D93311C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93820D1-C269-4539-8D35-AE88F2CCBD2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5CB6D1F1-D391-4075-8028-41E23336E09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7076761-D81C-4AC2-8D31-988A82F6C6B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FB00223-D45B-40C4-84B0-55564D7B965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a3c6d42d9ff4210" /><Relationship Type="http://schemas.openxmlformats.org/officeDocument/2006/relationships/slideLayout" Target="/ppt/slideLayouts/slideLayout1.xml" Id="R00b2e4cd76b34913" /><Relationship Type="http://schemas.openxmlformats.org/officeDocument/2006/relationships/slideLayout" Target="/ppt/slideLayouts/slideLayout2.xml" Id="Rf14436f96475488a" /><Relationship Type="http://schemas.openxmlformats.org/officeDocument/2006/relationships/slideLayout" Target="/ppt/slideLayouts/slideLayout3.xml" Id="Ra74a011cf0974864" /><Relationship Type="http://schemas.openxmlformats.org/officeDocument/2006/relationships/slideLayout" Target="/ppt/slideLayouts/slideLayout4.xml" Id="R17212fdbc7d847a3" /><Relationship Type="http://schemas.openxmlformats.org/officeDocument/2006/relationships/slideLayout" Target="/ppt/slideLayouts/slideLayout5.xml" Id="R81399db873dd4ba1" /><Relationship Type="http://schemas.openxmlformats.org/officeDocument/2006/relationships/slideLayout" Target="/ppt/slideLayouts/slideLayout6.xml" Id="R0083c4ca905040a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0b2e4cd76b34913"/>
    <p:sldLayoutId xmlns:r="http://schemas.openxmlformats.org/officeDocument/2006/relationships" id="2147483650" r:id="Rf14436f96475488a"/>
    <p:sldLayoutId xmlns:r="http://schemas.openxmlformats.org/officeDocument/2006/relationships" id="2147483651" r:id="Ra74a011cf0974864"/>
    <p:sldLayoutId xmlns:r="http://schemas.openxmlformats.org/officeDocument/2006/relationships" id="2147483652" r:id="R17212fdbc7d847a3"/>
    <p:sldLayoutId xmlns:r="http://schemas.openxmlformats.org/officeDocument/2006/relationships" id="2147483653" r:id="R81399db873dd4ba1"/>
    <p:sldLayoutId xmlns:r="http://schemas.openxmlformats.org/officeDocument/2006/relationships" id="2147483654" r:id="R0083c4ca905040a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Liberation Sans"/>
        <a:ea typeface=""/>
        <a:cs typeface=""/>
      </a:majorFont>
      <a:minorFont>
        <a:latin typeface="Liberation San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1970d0b0e834c7d" /><Relationship Type="http://schemas.openxmlformats.org/officeDocument/2006/relationships/notesSlide" Target="/ppt/notesSlides/notesSlide1.xml" Id="R846c7ca45fe7418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515ec64dd1d4dc1" /><Relationship Type="http://schemas.openxmlformats.org/officeDocument/2006/relationships/notesSlide" Target="/ppt/notesSlides/notesSlide2.xml" Id="R7abe27f63eea4ae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4b71b647ced4e28" /><Relationship Type="http://schemas.openxmlformats.org/officeDocument/2006/relationships/image" Target="/ppt/media/image.png" Id="Rb98e5ba80530431d" /><Relationship Type="http://schemas.openxmlformats.org/officeDocument/2006/relationships/notesSlide" Target="/ppt/notesSlides/notesSlide3.xml" Id="Rcc961a126691483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e07ce4d40b1427d" /><Relationship Type="http://schemas.openxmlformats.org/officeDocument/2006/relationships/notesSlide" Target="/ppt/notesSlides/notesSlide4.xml" Id="R2abfa3e7fc1d415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64def642ece4ab8" /><Relationship Type="http://schemas.openxmlformats.org/officeDocument/2006/relationships/notesSlide" Target="/ppt/notesSlides/notesSlide5.xml" Id="R9907a48c552a4e1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13456f17df34b5d" /><Relationship Type="http://schemas.openxmlformats.org/officeDocument/2006/relationships/notesSlide" Target="/ppt/notesSlides/notesSlide6.xml" Id="R5036663ad0c24f9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6fdff4fd69349c3" /><Relationship Type="http://schemas.openxmlformats.org/officeDocument/2006/relationships/image" Target="/ppt/media/image2.png" Id="R387205ad79d54a7e" /><Relationship Type="http://schemas.openxmlformats.org/officeDocument/2006/relationships/notesSlide" Target="/ppt/notesSlides/notesSlide7.xml" Id="R1c1e27f8206e431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79a2f2004f94a02" /><Relationship Type="http://schemas.openxmlformats.org/officeDocument/2006/relationships/notesSlide" Target="/ppt/notesSlides/notesSlide8.xml" Id="Rbe2469d62556412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271a42a8a1247d8" /><Relationship Type="http://schemas.openxmlformats.org/officeDocument/2006/relationships/notesSlide" Target="/ppt/notesSlides/notesSlide9.xml" Id="R5e257d5a6f4c463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d02cdcf620c4568" /><Relationship Type="http://schemas.openxmlformats.org/officeDocument/2006/relationships/notesSlide" Target="/ppt/notesSlides/notesSlide10.xml" Id="R82b8e6d278a14a3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3E3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DD79F0-3DE7-46E3-AD41-5F3C0302C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300" b="1">
                <a:solidFill>
                  <a:srgbClr val="173E3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498760-B9A8-452F-9A9E-6DAA3448D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28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773B4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773B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0">
                <a:solidFill>
                  <a:srgbClr val="773B46"/>
                </a:solidFill>
                <a:latin typeface="Liberation Sans"/>
                <a:ea typeface="Liberation Sans"/>
                <a:cs typeface="Liberation Sans"/>
              </a:rPr>
              <a:t>Draft for review. Evaluation and deployment approval remain pending.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19111C-EB44-42FA-BEAE-294C4496C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52665F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2665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0">
                <a:solidFill>
                  <a:srgbClr val="52665F"/>
                </a:solidFill>
                <a:latin typeface="Liberation Sans"/>
                <a:ea typeface="Liberation Sans"/>
                <a:cs typeface="Liberation Sans"/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7C2450-D6DE-446D-BBC5-10E0FB6B9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001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6150" b="1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6150" b="1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6150" b="1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rPr>
              <a:t>Private Client</a:t>
            </a:r>
          </a:p>
          <a:p xmlns:a="http://schemas.openxmlformats.org/drawingml/2006/main">
            <a:pPr>
              <a:defRPr sz="6150" b="1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6150" b="1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rPr>
              <a:t>Graph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9719DE-AF2B-4073-9F51-BCEFEB4D6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71900"/>
            <a:ext cx="1000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550" b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550" b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rPr>
              <a:t>Reviewable family and trust relationships</a:t>
            </a:r>
          </a:p>
          <a:p xmlns:a="http://schemas.openxmlformats.org/drawingml/2006/main">
            <a:pPr>
              <a:defRPr sz="2550" b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550" b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rPr>
              <a:t>from private-client source documents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C0D34F-F2D7-4E96-B81C-E42BD0F40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34000"/>
            <a:ext cx="952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725" b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rPr>
              <a:t>FTEC5660 hackathon</a:t>
            </a:r>
          </a:p>
          <a:p xmlns:a="http://schemas.openxmlformats.org/drawingml/2006/main">
            <a:pPr>
              <a:defRPr sz="1725" b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725" b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rPr>
              <a:t>17 October 2026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7F4118-58A8-4B6B-8B41-92E09BD0E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5762625"/>
            <a:ext cx="2524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00" b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rPr>
              <a:t>Draft for review</a:t>
            </a:r>
          </a:p>
        </p:txBody>
      </p:sp>
    </p:spTree>
    <p:extLst>
      <p:ext uri="{BB962C8B-B14F-4D97-AF65-F5344CB8AC3E}">
        <p14:creationId xmlns:p14="http://schemas.microsoft.com/office/powerpoint/2010/main" val="33360324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89DF49-2835-411C-A97B-1BBE0FA91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300" b="1">
                <a:solidFill>
                  <a:srgbClr val="173E3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73E3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300" b="1">
                <a:solidFill>
                  <a:srgbClr val="173E38"/>
                </a:solidFill>
                <a:latin typeface="Liberation Sans"/>
                <a:ea typeface="Liberation Sans"/>
                <a:cs typeface="Liberation Sans"/>
              </a:rPr>
              <a:t>The source-review 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3DF3E1-D4DA-4E32-843B-F36D3551F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28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773B4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773B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0">
                <a:solidFill>
                  <a:srgbClr val="773B46"/>
                </a:solidFill>
                <a:latin typeface="Liberation Sans"/>
                <a:ea typeface="Liberation Sans"/>
                <a:cs typeface="Liberation Sans"/>
              </a:rPr>
              <a:t>Draft for review. Evaluation and deployment approval remain pending.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EC8D69-1164-48D7-BC90-ED3D0E035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52665F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2665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0">
                <a:solidFill>
                  <a:srgbClr val="52665F"/>
                </a:solidFill>
                <a:latin typeface="Liberation Sans"/>
                <a:ea typeface="Liberation Sans"/>
                <a:cs typeface="Liberation Sans"/>
              </a:rPr>
              <a:t>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8FF0A8-F9D0-4A3C-864F-77278A5C4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5524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550" b="1">
                <a:solidFill>
                  <a:srgbClr val="173E3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73E3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550" b="1">
                <a:solidFill>
                  <a:srgbClr val="173E38"/>
                </a:solidFill>
                <a:latin typeface="Liberation Sans"/>
                <a:ea typeface="Liberation Sans"/>
                <a:cs typeface="Liberation Sans"/>
              </a:rPr>
              <a:t>Family and trust facts span notes, letters and later updates.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1DC2F2-5635-466B-87E6-BD07E3D38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4625"/>
            <a:ext cx="54292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0">
                <a:solidFill>
                  <a:srgbClr val="243F39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43F39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100" b="0">
                <a:solidFill>
                  <a:srgbClr val="243F39"/>
                </a:solidFill>
                <a:latin typeface="Liberation Sans"/>
                <a:ea typeface="Liberation Sans"/>
                <a:cs typeface="Liberation Sans"/>
              </a:rPr>
              <a:t>A graph makes connections visible. A solicitor still needs to inspect the words that support each relationship and distinguish a current appointment from an earlier one.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8846C8-9467-49D4-9A3E-3FFEC080C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714500"/>
            <a:ext cx="4476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700" b="0">
                <a:solidFill>
                  <a:srgbClr val="173E3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2700" b="0">
                <a:solidFill>
                  <a:srgbClr val="173E3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700" b="0">
                <a:solidFill>
                  <a:srgbClr val="173E38"/>
                </a:solidFill>
                <a:latin typeface="Liberation Sans"/>
                <a:ea typeface="Liberation Sans"/>
                <a:cs typeface="Liberation Sans"/>
              </a:rPr>
              <a:t>“Alice Chen confirmed that Bob Chen is a beneficiary of the Evergreen Family Trust.”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4B3F52-ED6E-45FD-B300-6B78C9385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095750"/>
            <a:ext cx="447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52665F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2665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725" b="0">
                <a:solidFill>
                  <a:srgbClr val="52665F"/>
                </a:solidFill>
                <a:latin typeface="Liberation Sans"/>
                <a:ea typeface="Liberation Sans"/>
                <a:cs typeface="Liberation Sans"/>
              </a:rPr>
              <a:t>Case 01, synthetic attendance note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C8F37D-75B0-46AC-BD6D-4071B53F7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81625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1">
                <a:solidFill>
                  <a:srgbClr val="173E3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73E3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250" b="1">
                <a:solidFill>
                  <a:srgbClr val="173E38"/>
                </a:solidFill>
                <a:latin typeface="Liberation Sans"/>
                <a:ea typeface="Liberation Sans"/>
                <a:cs typeface="Liberation Sans"/>
              </a:rPr>
              <a:t>Project objective: produce inspectable proposed relationships for professional review.</a:t>
            </a:r>
          </a:p>
        </p:txBody>
      </p:sp>
    </p:spTree>
    <p:extLst>
      <p:ext uri="{BB962C8B-B14F-4D97-AF65-F5344CB8AC3E}">
        <p14:creationId xmlns:p14="http://schemas.microsoft.com/office/powerpoint/2010/main" val="121237533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82B7D4-F56E-4B3C-8D4E-5A97E0972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300" b="1">
                <a:solidFill>
                  <a:srgbClr val="173E3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73E3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300" b="1">
                <a:solidFill>
                  <a:srgbClr val="173E38"/>
                </a:solidFill>
                <a:latin typeface="Liberation Sans"/>
                <a:ea typeface="Liberation Sans"/>
                <a:cs typeface="Liberation Sans"/>
              </a:rPr>
              <a:t>Evidence beside the relationship graph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748F11-BBEC-485A-A178-FC33A0E60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28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773B4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773B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0">
                <a:solidFill>
                  <a:srgbClr val="773B46"/>
                </a:solidFill>
                <a:latin typeface="Liberation Sans"/>
                <a:ea typeface="Liberation Sans"/>
                <a:cs typeface="Liberation Sans"/>
              </a:rPr>
              <a:t>Draft for review. Evaluation and deployment approval remain pending.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E2F832-F273-4603-9CB1-C44058B65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52665F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2665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0">
                <a:solidFill>
                  <a:srgbClr val="52665F"/>
                </a:solidFill>
                <a:latin typeface="Liberation Sans"/>
                <a:ea typeface="Liberation Sans"/>
                <a:cs typeface="Liberation Sans"/>
              </a:rPr>
              <a:t>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E8CAE4-BB80-4E53-BBB4-84EC21D57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3238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75" b="1">
                <a:solidFill>
                  <a:srgbClr val="173E3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73E3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175" b="1">
                <a:solidFill>
                  <a:srgbClr val="173E38"/>
                </a:solidFill>
                <a:latin typeface="Liberation Sans"/>
                <a:ea typeface="Liberation Sans"/>
                <a:cs typeface="Liberation Sans"/>
              </a:rPr>
              <a:t>Select a relationship, choose its Evidence and inspect the exact passage in the correct Source.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12F3C6-81BD-47E2-9989-7EB83743B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48125"/>
            <a:ext cx="3238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950" b="0">
                <a:solidFill>
                  <a:srgbClr val="243F39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243F39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950" b="0">
                <a:solidFill>
                  <a:srgbClr val="243F39"/>
                </a:solidFill>
                <a:latin typeface="Liberation Sans"/>
                <a:ea typeface="Liberation Sans"/>
                <a:cs typeface="Liberation Sans"/>
              </a:rPr>
              <a:t>Practitioners review a saved proposal before confirming the whole graph as current Matter state.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C2D2C6-FFFB-4A1E-86AA-A27C111F964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8e5ba80530431d"/>
          <a:srcRect xmlns:a="http://schemas.openxmlformats.org/drawingml/2006/main" l="28000" t="58000" r="8000" b="5500"/>
          <a:stretch xmlns:a="http://schemas.openxmlformats.org/drawingml/2006/main"/>
        </p:blipFill>
        <p:spPr>
          <a:xfrm xmlns:a="http://schemas.openxmlformats.org/drawingml/2006/main">
            <a:off x="4095750" y="1285875"/>
            <a:ext cx="7524750" cy="471487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6DC831-8DEF-419B-95D0-5E2ADC790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6048375"/>
            <a:ext cx="752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52665F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2665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52665F"/>
                </a:solidFill>
                <a:latin typeface="Liberation Sans"/>
                <a:ea typeface="Liberation Sans"/>
                <a:cs typeface="Liberation Sans"/>
              </a:rPr>
              <a:t>Local public showcase. Curated synthetic Case 04.</a:t>
            </a:r>
          </a:p>
        </p:txBody>
      </p:sp>
    </p:spTree>
    <p:extLst>
      <p:ext uri="{BB962C8B-B14F-4D97-AF65-F5344CB8AC3E}">
        <p14:creationId xmlns:p14="http://schemas.microsoft.com/office/powerpoint/2010/main" val="159397888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3FAC35-5613-4884-AF2B-46C5D39399D6}"/>
              </a:ext>
            </a:extLst>
          </p:cNvPr>
          <p:cNvCxnSpPr>
            <a:stCxn xmlns:a="http://schemas.openxmlformats.org/drawingml/2006/main" id="11" idx="2"/>
            <a:endCxn xmlns:a="http://schemas.openxmlformats.org/drawingml/2006/main" id="13" idx="0"/>
          </p:cNvCxnSpPr>
          <p:nvPr/>
        </p:nvCxnSpPr>
        <p:spPr>
          <a:xfrm xmlns:a="http://schemas.openxmlformats.org/drawingml/2006/main">
            <a:off x="9363075" y="4429125"/>
            <a:ext cx="0" cy="6191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65F"/>
            </a:solidFill>
            <a:headEnd type="none" w="med" len="med"/>
            <a:tailEnd type="triangle" w="sm" len="sm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FDE814-33BB-4E01-A262-35F587472CA1}"/>
              </a:ext>
            </a:extLst>
          </p:cNvPr>
          <p:cNvCxnSpPr>
            <a:stCxn xmlns:a="http://schemas.openxmlformats.org/drawingml/2006/main" id="7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 flipH="1">
            <a:off x="9363075" y="2619375"/>
            <a:ext cx="847725" cy="8096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65F"/>
            </a:solidFill>
            <a:headEnd type="none" w="med" len="med"/>
            <a:tailEnd type="triangle" w="sm" len="sm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04220A-B3C6-496B-B3C3-5C8CF45C6A6C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8286750" y="2143125"/>
            <a:ext cx="552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65F"/>
            </a:solidFill>
            <a:headEnd type="none" w="med" len="med"/>
            <a:tailEnd type="triangle" w="sm" len="sm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F9074A-ABD8-4F94-AB61-68E3AD5E3715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5448300" y="2143125"/>
            <a:ext cx="552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65F"/>
            </a:solidFill>
            <a:headEnd type="none" w="med" len="med"/>
            <a:tailEnd type="triangle" w="sm" len="sm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33A70E-5138-4A0F-8050-E0C45F0F51DF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2609850" y="2143125"/>
            <a:ext cx="552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65F"/>
            </a:solidFill>
            <a:headEnd type="none" w="med" len="med"/>
            <a:tailEnd type="triangle" w="sm" len="sm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5B4C7A-B400-42D4-B6C7-8E23016EB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300" b="1">
                <a:solidFill>
                  <a:srgbClr val="173E3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73E3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300" b="1">
                <a:solidFill>
                  <a:srgbClr val="173E38"/>
                </a:solidFill>
                <a:latin typeface="Liberation Sans"/>
                <a:ea typeface="Liberation Sans"/>
                <a:cs typeface="Liberation Sans"/>
              </a:rPr>
              <a:t>System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79C5C1-7B36-4EEB-A916-DFE778FDA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28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773B4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773B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0">
                <a:solidFill>
                  <a:srgbClr val="773B46"/>
                </a:solidFill>
                <a:latin typeface="Liberation Sans"/>
                <a:ea typeface="Liberation Sans"/>
                <a:cs typeface="Liberation Sans"/>
              </a:rPr>
              <a:t>Draft for review. Evaluation and deployment approval remain pending.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F8C614-BD8A-471E-ACF5-661BE3737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52665F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2665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0">
                <a:solidFill>
                  <a:srgbClr val="52665F"/>
                </a:solidFill>
                <a:latin typeface="Liberation Sans"/>
                <a:ea typeface="Liberation Sans"/>
                <a:cs typeface="Liberation Sans"/>
              </a:rPr>
              <a:t>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E09BFF-DF01-4876-8158-3DEAB6533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2000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52665F"/>
            </a:solidFill>
          </a:ln>
        </p:spPr>
        <p:txBody>
          <a:bodyPr xmlns:a="http://schemas.openxmlformats.org/drawingml/2006/main" lIns="133350" tIns="133350" rIns="133350" bIns="133350" anchor="ctr"/>
          <a:lstStyle xmlns:a="http://schemas.openxmlformats.org/drawingml/2006/main">
            <a:defPPr algn="ctr">
              <a:defRPr sz="1875" b="1">
                <a:solidFill>
                  <a:srgbClr val="173E3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173E3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 b="1">
                <a:solidFill>
                  <a:srgbClr val="173E38"/>
                </a:solidFill>
                <a:latin typeface="Liberation Sans"/>
                <a:ea typeface="Liberation Sans"/>
                <a:cs typeface="Liberation Sans"/>
              </a:rPr>
              <a:t>Ordered Sources</a:t>
            </a:r>
          </a:p>
          <a:p xmlns:a="http://schemas.openxmlformats.org/drawingml/2006/main">
            <a:pPr algn="ctr">
              <a:defRPr sz="1875" b="1">
                <a:solidFill>
                  <a:srgbClr val="173E3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 b="1">
                <a:solidFill>
                  <a:srgbClr val="173E38"/>
                </a:solidFill>
                <a:latin typeface="Liberation Sans"/>
                <a:ea typeface="Liberation Sans"/>
                <a:cs typeface="Liberation Sans"/>
              </a:rPr>
              <a:t>Final PDF text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22DA09-C712-48F3-92B1-50DAE6591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1666875"/>
            <a:ext cx="2286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DDA0"/>
          </a:solidFill>
          <a:ln xmlns:a="http://schemas.openxmlformats.org/drawingml/2006/main" w="9525">
            <a:solidFill>
              <a:srgbClr val="52665F"/>
            </a:solidFill>
          </a:ln>
        </p:spPr>
        <p:txBody>
          <a:bodyPr xmlns:a="http://schemas.openxmlformats.org/drawingml/2006/main" lIns="133350" tIns="133350" rIns="133350" bIns="133350" anchor="ctr"/>
          <a:lstStyle xmlns:a="http://schemas.openxmlformats.org/drawingml/2006/main">
            <a:defPPr algn="ctr">
              <a:defRPr sz="1875" b="1">
                <a:solidFill>
                  <a:srgbClr val="173E3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173E3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 b="1">
                <a:solidFill>
                  <a:srgbClr val="173E38"/>
                </a:solidFill>
                <a:latin typeface="Liberation Sans"/>
                <a:ea typeface="Liberation Sans"/>
                <a:cs typeface="Liberation Sans"/>
              </a:rPr>
              <a:t>Extract</a:t>
            </a:r>
          </a:p>
          <a:p xmlns:a="http://schemas.openxmlformats.org/drawingml/2006/main">
            <a:pPr algn="ctr">
              <a:defRPr sz="1875" b="1">
                <a:solidFill>
                  <a:srgbClr val="173E3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 b="1">
                <a:solidFill>
                  <a:srgbClr val="173E38"/>
                </a:solidFill>
                <a:latin typeface="Liberation Sans"/>
                <a:ea typeface="Liberation Sans"/>
                <a:cs typeface="Liberation Sans"/>
              </a:rPr>
              <a:t>One full-context call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E74E8F-F4DE-4D16-ABB9-A6143FD80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666875"/>
            <a:ext cx="2286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52665F"/>
            </a:solidFill>
          </a:ln>
        </p:spPr>
        <p:txBody>
          <a:bodyPr xmlns:a="http://schemas.openxmlformats.org/drawingml/2006/main" lIns="133350" tIns="133350" rIns="133350" bIns="133350" anchor="ctr"/>
          <a:lstStyle xmlns:a="http://schemas.openxmlformats.org/drawingml/2006/main">
            <a:defPPr algn="ctr">
              <a:defRPr sz="1875" b="1">
                <a:solidFill>
                  <a:srgbClr val="173E3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173E3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 b="1">
                <a:solidFill>
                  <a:srgbClr val="173E38"/>
                </a:solidFill>
                <a:latin typeface="Liberation Sans"/>
                <a:ea typeface="Liberation Sans"/>
                <a:cs typeface="Liberation Sans"/>
              </a:rPr>
              <a:t>Resolve</a:t>
            </a:r>
          </a:p>
          <a:p xmlns:a="http://schemas.openxmlformats.org/drawingml/2006/main">
            <a:pPr algn="ctr">
              <a:defRPr sz="1875" b="1">
                <a:solidFill>
                  <a:srgbClr val="173E3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 b="1">
                <a:solidFill>
                  <a:srgbClr val="173E38"/>
                </a:solidFill>
                <a:latin typeface="Liberation Sans"/>
                <a:ea typeface="Liberation Sans"/>
                <a:cs typeface="Liberation Sans"/>
              </a:rPr>
              <a:t>No-resolution config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37DC3C-2C11-4195-8D7C-1CBC9A84F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666875"/>
            <a:ext cx="27432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52665F"/>
            </a:solidFill>
          </a:ln>
        </p:spPr>
        <p:txBody>
          <a:bodyPr xmlns:a="http://schemas.openxmlformats.org/drawingml/2006/main" lIns="133350" tIns="133350" rIns="133350" bIns="133350" anchor="ctr"/>
          <a:lstStyle xmlns:a="http://schemas.openxmlformats.org/drawingml/2006/main">
            <a:defPPr algn="ctr">
              <a:defRPr sz="1875" b="1">
                <a:solidFill>
                  <a:srgbClr val="173E3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173E3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 b="1">
                <a:solidFill>
                  <a:srgbClr val="173E38"/>
                </a:solidFill>
                <a:latin typeface="Liberation Sans"/>
                <a:ea typeface="Liberation Sans"/>
                <a:cs typeface="Liberation Sans"/>
              </a:rPr>
              <a:t>Construct</a:t>
            </a:r>
          </a:p>
          <a:p xmlns:a="http://schemas.openxmlformats.org/drawingml/2006/main">
            <a:pPr algn="ctr">
              <a:defRPr sz="1875" b="1">
                <a:solidFill>
                  <a:srgbClr val="173E3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 b="1">
                <a:solidFill>
                  <a:srgbClr val="173E38"/>
                </a:solidFill>
                <a:latin typeface="Liberation Sans"/>
                <a:ea typeface="Liberation Sans"/>
                <a:cs typeface="Liberation Sans"/>
              </a:rPr>
              <a:t>Deterministic validation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3E6D08-1F81-491E-B077-51B8F27E4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429000"/>
            <a:ext cx="44386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52665F"/>
            </a:solidFill>
          </a:ln>
        </p:spPr>
        <p:txBody>
          <a:bodyPr xmlns:a="http://schemas.openxmlformats.org/drawingml/2006/main" lIns="133350" tIns="133350" rIns="133350" bIns="133350" anchor="ctr"/>
          <a:lstStyle xmlns:a="http://schemas.openxmlformats.org/drawingml/2006/main">
            <a:defPPr algn="ctr">
              <a:defRPr sz="1875" b="1">
                <a:solidFill>
                  <a:srgbClr val="173E3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173E3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 b="1">
                <a:solidFill>
                  <a:srgbClr val="173E38"/>
                </a:solidFill>
                <a:latin typeface="Liberation Sans"/>
                <a:ea typeface="Liberation Sans"/>
                <a:cs typeface="Liberation Sans"/>
              </a:rPr>
              <a:t>Matter Proposal</a:t>
            </a:r>
          </a:p>
          <a:p xmlns:a="http://schemas.openxmlformats.org/drawingml/2006/main">
            <a:pPr algn="ctr">
              <a:defRPr sz="1875" b="1">
                <a:solidFill>
                  <a:srgbClr val="173E3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 b="1">
                <a:solidFill>
                  <a:srgbClr val="173E38"/>
                </a:solidFill>
                <a:latin typeface="Liberation Sans"/>
                <a:ea typeface="Liberation Sans"/>
                <a:cs typeface="Liberation Sans"/>
              </a:rPr>
              <a:t>Source-aware relational facts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3E516C-4621-440A-88E5-32C26D921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5048250"/>
            <a:ext cx="44386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52665F"/>
            </a:solidFill>
          </a:ln>
        </p:spPr>
        <p:txBody>
          <a:bodyPr xmlns:a="http://schemas.openxmlformats.org/drawingml/2006/main" lIns="133350" tIns="133350" rIns="133350" bIns="133350" anchor="ctr"/>
          <a:lstStyle xmlns:a="http://schemas.openxmlformats.org/drawingml/2006/main">
            <a:defPPr algn="ctr">
              <a:defRPr sz="1875" b="1">
                <a:solidFill>
                  <a:srgbClr val="173E3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173E3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 b="1">
                <a:solidFill>
                  <a:srgbClr val="173E38"/>
                </a:solidFill>
                <a:latin typeface="Liberation Sans"/>
                <a:ea typeface="Liberation Sans"/>
                <a:cs typeface="Liberation Sans"/>
              </a:rPr>
              <a:t>Accepted Matter</a:t>
            </a:r>
          </a:p>
          <a:p xmlns:a="http://schemas.openxmlformats.org/drawingml/2006/main">
            <a:pPr algn="ctr">
              <a:defRPr sz="1875" b="1">
                <a:solidFill>
                  <a:srgbClr val="173E3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 b="1">
                <a:solidFill>
                  <a:srgbClr val="173E38"/>
                </a:solidFill>
                <a:latin typeface="Liberation Sans"/>
                <a:ea typeface="Liberation Sans"/>
                <a:cs typeface="Liberation Sans"/>
              </a:rPr>
              <a:t>Whole-proposal confirmation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2F5390-1B70-4BFD-B5EF-8B9D50A1F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81375"/>
            <a:ext cx="5143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75" b="1">
                <a:solidFill>
                  <a:srgbClr val="173E3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73E3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175" b="1">
                <a:solidFill>
                  <a:srgbClr val="173E38"/>
                </a:solidFill>
                <a:latin typeface="Liberation Sans"/>
                <a:ea typeface="Liberation Sans"/>
                <a:cs typeface="Liberation Sans"/>
              </a:rPr>
              <a:t>Model interprets semantics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757D7D-07C1-4B10-BEC6-7DD210155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0"/>
            <a:ext cx="547687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0">
                <a:solidFill>
                  <a:srgbClr val="243F39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43F39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025" b="0">
                <a:solidFill>
                  <a:srgbClr val="243F39"/>
                </a:solidFill>
                <a:latin typeface="Liberation Sans"/>
                <a:ea typeface="Liberation Sans"/>
                <a:cs typeface="Liberation Sans"/>
              </a:rPr>
              <a:t>Code validates identity, types, exact quotes, support and deduplication. PostgreSQL preserves Source attribution and aggregate integrity.</a:t>
            </a:r>
          </a:p>
        </p:txBody>
      </p:sp>
    </p:spTree>
    <p:extLst>
      <p:ext uri="{BB962C8B-B14F-4D97-AF65-F5344CB8AC3E}">
        <p14:creationId xmlns:p14="http://schemas.microsoft.com/office/powerpoint/2010/main" val="207791407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D4A119-BB61-4779-8809-FF13A5A6E4D5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 flipV="1">
            <a:off x="3848100" y="3976688"/>
            <a:ext cx="3105150" cy="795338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65F"/>
            </a:solidFill>
            <a:headEnd type="none" w="med" len="med"/>
            <a:tailEnd type="triangle" w="sm" len="sm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3C8A8B-5F48-45C2-8942-7B34CB986D98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848100" y="3181350"/>
            <a:ext cx="3105150" cy="795338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65F"/>
            </a:solidFill>
            <a:headEnd type="none" w="med" len="med"/>
            <a:tailEnd type="triangle" w="sm" len="sm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25D2A3-49CA-4DE4-8D9F-7F5C52BDA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300" b="1">
                <a:solidFill>
                  <a:srgbClr val="173E3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73E3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300" b="1">
                <a:solidFill>
                  <a:srgbClr val="173E38"/>
                </a:solidFill>
                <a:latin typeface="Liberation Sans"/>
                <a:ea typeface="Liberation Sans"/>
                <a:cs typeface="Liberation Sans"/>
              </a:rPr>
              <a:t>Source identity travels with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00908C-78C0-446C-BCF8-66DC9E340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28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773B4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773B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0">
                <a:solidFill>
                  <a:srgbClr val="773B46"/>
                </a:solidFill>
                <a:latin typeface="Liberation Sans"/>
                <a:ea typeface="Liberation Sans"/>
                <a:cs typeface="Liberation Sans"/>
              </a:rPr>
              <a:t>Draft for review. Evaluation and deployment approval remain pending.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1611A1-7DF2-4AD8-8160-66960284D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52665F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2665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0">
                <a:solidFill>
                  <a:srgbClr val="52665F"/>
                </a:solidFill>
                <a:latin typeface="Liberation Sans"/>
                <a:ea typeface="Liberation Sans"/>
                <a:cs typeface="Liberation Sans"/>
              </a:rPr>
              <a:t>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8C4DE7-B7DC-43BD-8035-5D2648377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400" b="1">
                <a:solidFill>
                  <a:srgbClr val="173E3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173E3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400" b="1">
                <a:solidFill>
                  <a:srgbClr val="173E38"/>
                </a:solidFill>
                <a:latin typeface="Liberation Sans"/>
                <a:ea typeface="Liberation Sans"/>
                <a:cs typeface="Liberation Sans"/>
              </a:rPr>
              <a:t>A quote carries an explicit Source ID. Repeated titles and repeated words do not identify the document.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A7BDEB-736E-4380-BC43-64EC4533F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4625"/>
            <a:ext cx="32385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52665F"/>
            </a:solidFill>
          </a:ln>
        </p:spPr>
        <p:txBody>
          <a:bodyPr xmlns:a="http://schemas.openxmlformats.org/drawingml/2006/main" lIns="133350" tIns="133350" rIns="133350" bIns="133350" anchor="ctr"/>
          <a:lstStyle xmlns:a="http://schemas.openxmlformats.org/drawingml/2006/main">
            <a:defPPr algn="ctr">
              <a:defRPr sz="1875" b="1">
                <a:solidFill>
                  <a:srgbClr val="173E3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173E3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 b="1">
                <a:solidFill>
                  <a:srgbClr val="173E38"/>
                </a:solidFill>
                <a:latin typeface="Liberation Sans"/>
                <a:ea typeface="Liberation Sans"/>
                <a:cs typeface="Liberation Sans"/>
              </a:rPr>
              <a:t>note_01</a:t>
            </a:r>
          </a:p>
          <a:p xmlns:a="http://schemas.openxmlformats.org/drawingml/2006/main">
            <a:pPr algn="ctr">
              <a:defRPr sz="1875" b="1">
                <a:solidFill>
                  <a:srgbClr val="173E3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 b="1">
                <a:solidFill>
                  <a:srgbClr val="173E38"/>
                </a:solidFill>
                <a:latin typeface="Liberation Sans"/>
                <a:ea typeface="Liberation Sans"/>
                <a:cs typeface="Liberation Sans"/>
              </a:rPr>
              <a:t>Initial attendance note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1FD56F-2954-4742-A29D-018BFAD9F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32385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52665F"/>
            </a:solidFill>
          </a:ln>
        </p:spPr>
        <p:txBody>
          <a:bodyPr xmlns:a="http://schemas.openxmlformats.org/drawingml/2006/main" lIns="133350" tIns="133350" rIns="133350" bIns="133350" anchor="ctr"/>
          <a:lstStyle xmlns:a="http://schemas.openxmlformats.org/drawingml/2006/main">
            <a:defPPr algn="ctr">
              <a:defRPr sz="1875" b="1">
                <a:solidFill>
                  <a:srgbClr val="173E3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173E3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 b="1">
                <a:solidFill>
                  <a:srgbClr val="173E38"/>
                </a:solidFill>
                <a:latin typeface="Liberation Sans"/>
                <a:ea typeface="Liberation Sans"/>
                <a:cs typeface="Liberation Sans"/>
              </a:rPr>
              <a:t>note_02</a:t>
            </a:r>
          </a:p>
          <a:p xmlns:a="http://schemas.openxmlformats.org/drawingml/2006/main">
            <a:pPr algn="ctr">
              <a:defRPr sz="1875" b="1">
                <a:solidFill>
                  <a:srgbClr val="173E3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 b="1">
                <a:solidFill>
                  <a:srgbClr val="173E38"/>
                </a:solidFill>
                <a:latin typeface="Liberation Sans"/>
                <a:ea typeface="Liberation Sans"/>
                <a:cs typeface="Liberation Sans"/>
              </a:rPr>
              <a:t>Follow-up attendance note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70E138-34E6-4240-B568-2DF626796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286125"/>
            <a:ext cx="43815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DDA0"/>
          </a:solidFill>
          <a:ln xmlns:a="http://schemas.openxmlformats.org/drawingml/2006/main" w="9525">
            <a:solidFill>
              <a:srgbClr val="52665F"/>
            </a:solidFill>
          </a:ln>
        </p:spPr>
        <p:txBody>
          <a:bodyPr xmlns:a="http://schemas.openxmlformats.org/drawingml/2006/main" lIns="133350" tIns="133350" rIns="133350" bIns="133350" anchor="ctr"/>
          <a:lstStyle xmlns:a="http://schemas.openxmlformats.org/drawingml/2006/main">
            <a:defPPr algn="ctr">
              <a:defRPr sz="1875" b="1">
                <a:solidFill>
                  <a:srgbClr val="173E3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173E3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 b="1">
                <a:solidFill>
                  <a:srgbClr val="173E38"/>
                </a:solidFill>
                <a:latin typeface="Liberation Sans"/>
                <a:ea typeface="Liberation Sans"/>
                <a:cs typeface="Liberation Sans"/>
              </a:rPr>
              <a:t>Andrew Chan</a:t>
            </a:r>
          </a:p>
          <a:p xmlns:a="http://schemas.openxmlformats.org/drawingml/2006/main">
            <a:pPr algn="ctr">
              <a:defRPr sz="1875" b="1">
                <a:solidFill>
                  <a:srgbClr val="173E3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 b="1">
                <a:solidFill>
                  <a:srgbClr val="173E38"/>
                </a:solidFill>
                <a:latin typeface="Liberation Sans"/>
                <a:ea typeface="Liberation Sans"/>
                <a:cs typeface="Liberation Sans"/>
              </a:rPr>
              <a:t>beneficiary of</a:t>
            </a:r>
          </a:p>
          <a:p xmlns:a="http://schemas.openxmlformats.org/drawingml/2006/main">
            <a:pPr algn="ctr">
              <a:defRPr sz="1875" b="1">
                <a:solidFill>
                  <a:srgbClr val="173E3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 b="1">
                <a:solidFill>
                  <a:srgbClr val="173E38"/>
                </a:solidFill>
                <a:latin typeface="Liberation Sans"/>
                <a:ea typeface="Liberation Sans"/>
                <a:cs typeface="Liberation Sans"/>
              </a:rPr>
              <a:t>Hillcrest Family Trust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9B6682-84AC-4E75-A146-B8C0789D7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72125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75" b="0">
                <a:solidFill>
                  <a:srgbClr val="243F39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43F39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175" b="0">
                <a:solidFill>
                  <a:srgbClr val="243F39"/>
                </a:solidFill>
                <a:latin typeface="Liberation Sans"/>
                <a:ea typeface="Liberation Sans"/>
                <a:cs typeface="Liberation Sans"/>
              </a:rPr>
              <a:t>One canonical relationship can retain support from both Sources.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D19480-E3BB-4188-B07F-7DB67851D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61925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00" b="0">
                <a:solidFill>
                  <a:srgbClr val="243F39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00" b="0">
                <a:solidFill>
                  <a:srgbClr val="243F39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00" b="0">
                <a:solidFill>
                  <a:srgbClr val="243F39"/>
                </a:solidFill>
                <a:latin typeface="Liberation Sans"/>
                <a:ea typeface="Liberation Sans"/>
                <a:cs typeface="Liberation Sans"/>
              </a:rPr>
              <a:t>Exact quote occurrence checks mechanical provenance. It does not prove that the passage entails the relationship.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2E89AE-E2DE-48B9-BD1B-D31CEA7F0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5000625"/>
            <a:ext cx="685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00" b="0">
                <a:solidFill>
                  <a:srgbClr val="52665F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2665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52665F"/>
                </a:solidFill>
                <a:latin typeface="Liberation Sans"/>
                <a:ea typeface="Liberation Sans"/>
                <a:cs typeface="Liberation Sans"/>
              </a:rPr>
              <a:t>Exact-text validation checks occurrence. Professional review checks meaning.</a:t>
            </a:r>
          </a:p>
        </p:txBody>
      </p:sp>
    </p:spTree>
    <p:extLst>
      <p:ext uri="{BB962C8B-B14F-4D97-AF65-F5344CB8AC3E}">
        <p14:creationId xmlns:p14="http://schemas.microsoft.com/office/powerpoint/2010/main" val="51111614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CF598E-95A8-4969-A186-7D0A11917CEE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5133975" y="2238375"/>
            <a:ext cx="19240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65F"/>
            </a:solidFill>
            <a:headEnd type="none" w="med" len="med"/>
            <a:tailEnd type="triangle" w="sm" len="sm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12EADD-C6FF-47F5-BD18-E623DB11C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300" b="1">
                <a:solidFill>
                  <a:srgbClr val="173E3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73E3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300" b="1">
                <a:solidFill>
                  <a:srgbClr val="173E38"/>
                </a:solidFill>
                <a:latin typeface="Liberation Sans"/>
                <a:ea typeface="Liberation Sans"/>
                <a:cs typeface="Liberation Sans"/>
              </a:rPr>
              <a:t>Explicit updates define the current trustee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F65D78-DDC1-479D-98CB-2ADF4FC04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28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773B4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773B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0">
                <a:solidFill>
                  <a:srgbClr val="773B46"/>
                </a:solidFill>
                <a:latin typeface="Liberation Sans"/>
                <a:ea typeface="Liberation Sans"/>
                <a:cs typeface="Liberation Sans"/>
              </a:rPr>
              <a:t>Draft for review. Evaluation and deployment approval remain pending.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74E380-EAC9-4078-952E-C95ECADCE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52665F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2665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0">
                <a:solidFill>
                  <a:srgbClr val="52665F"/>
                </a:solidFill>
                <a:latin typeface="Liberation Sans"/>
                <a:ea typeface="Liberation Sans"/>
                <a:cs typeface="Liberation Sans"/>
              </a:rPr>
              <a:t>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C57647-13AE-4629-A797-486C948E3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452437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52665F"/>
            </a:solidFill>
          </a:ln>
        </p:spPr>
        <p:txBody>
          <a:bodyPr xmlns:a="http://schemas.openxmlformats.org/drawingml/2006/main" lIns="133350" tIns="133350" rIns="133350" bIns="133350" anchor="ctr"/>
          <a:lstStyle xmlns:a="http://schemas.openxmlformats.org/drawingml/2006/main">
            <a:defPPr algn="ctr">
              <a:defRPr sz="1875" b="1">
                <a:solidFill>
                  <a:srgbClr val="173E3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173E3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 b="1">
                <a:solidFill>
                  <a:srgbClr val="173E38"/>
                </a:solidFill>
                <a:latin typeface="Liberation Sans"/>
                <a:ea typeface="Liberation Sans"/>
                <a:cs typeface="Liberation Sans"/>
              </a:rPr>
              <a:t>1 September</a:t>
            </a:r>
          </a:p>
          <a:p xmlns:a="http://schemas.openxmlformats.org/drawingml/2006/main">
            <a:pPr algn="ctr">
              <a:defRPr sz="1875" b="1">
                <a:solidFill>
                  <a:srgbClr val="173E3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 b="1">
                <a:solidFill>
                  <a:srgbClr val="173E38"/>
                </a:solidFill>
                <a:latin typeface="Liberation Sans"/>
                <a:ea typeface="Liberation Sans"/>
                <a:cs typeface="Liberation Sans"/>
              </a:rPr>
              <a:t>David Ng is sole trustee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2D60A6-92B4-43B2-A4EC-D0E32D203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1714500"/>
            <a:ext cx="452437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DDA0"/>
          </a:solidFill>
          <a:ln xmlns:a="http://schemas.openxmlformats.org/drawingml/2006/main" w="9525">
            <a:solidFill>
              <a:srgbClr val="52665F"/>
            </a:solidFill>
          </a:ln>
        </p:spPr>
        <p:txBody>
          <a:bodyPr xmlns:a="http://schemas.openxmlformats.org/drawingml/2006/main" lIns="133350" tIns="133350" rIns="133350" bIns="133350" anchor="ctr"/>
          <a:lstStyle xmlns:a="http://schemas.openxmlformats.org/drawingml/2006/main">
            <a:defPPr algn="ctr">
              <a:defRPr sz="1875" b="1">
                <a:solidFill>
                  <a:srgbClr val="173E3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173E3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 b="1">
                <a:solidFill>
                  <a:srgbClr val="173E38"/>
                </a:solidFill>
                <a:latin typeface="Liberation Sans"/>
                <a:ea typeface="Liberation Sans"/>
                <a:cs typeface="Liberation Sans"/>
              </a:rPr>
              <a:t>15 September</a:t>
            </a:r>
          </a:p>
          <a:p xmlns:a="http://schemas.openxmlformats.org/drawingml/2006/main">
            <a:pPr algn="ctr">
              <a:defRPr sz="1875" b="1">
                <a:solidFill>
                  <a:srgbClr val="173E3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 b="1">
                <a:solidFill>
                  <a:srgbClr val="173E38"/>
                </a:solidFill>
                <a:latin typeface="Liberation Sans"/>
                <a:ea typeface="Liberation Sans"/>
                <a:cs typeface="Liberation Sans"/>
              </a:rPr>
              <a:t>Rachel Lim is sole trustee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B0F99C-3342-4517-85F8-BD33537F7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095625"/>
            <a:ext cx="657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75" b="1">
                <a:solidFill>
                  <a:srgbClr val="173E3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73E3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175" b="1">
                <a:solidFill>
                  <a:srgbClr val="173E38"/>
                </a:solidFill>
                <a:latin typeface="Liberation Sans"/>
                <a:ea typeface="Liberation Sans"/>
                <a:cs typeface="Liberation Sans"/>
              </a:rPr>
              <a:t>Replacement effective 10 September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0BF21B-0AA1-4368-A7DA-6098899AA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48125"/>
            <a:ext cx="685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325" b="0">
                <a:solidFill>
                  <a:srgbClr val="243F39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243F39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325" b="0">
                <a:solidFill>
                  <a:srgbClr val="243F39"/>
                </a:solidFill>
                <a:latin typeface="Liberation Sans"/>
                <a:ea typeface="Liberation Sans"/>
                <a:cs typeface="Liberation Sans"/>
              </a:rPr>
              <a:t>The final current graph retains Rachel’s trustee edge and the five unchanged family and trust relationships.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E20CC5-4B5F-47F9-9319-921E02466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00500"/>
            <a:ext cx="3333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52665F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2665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 b="0">
                <a:solidFill>
                  <a:srgbClr val="52665F"/>
                </a:solidFill>
                <a:latin typeface="Liberation Sans"/>
                <a:ea typeface="Liberation Sans"/>
                <a:cs typeface="Liberation Sans"/>
              </a:rPr>
              <a:t>The source documents retain the historical statement. The application adds no event store or historical-date selector.</a:t>
            </a:r>
          </a:p>
        </p:txBody>
      </p:sp>
    </p:spTree>
    <p:extLst>
      <p:ext uri="{BB962C8B-B14F-4D97-AF65-F5344CB8AC3E}">
        <p14:creationId xmlns:p14="http://schemas.microsoft.com/office/powerpoint/2010/main" val="21262510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EEB773-1A9A-42D9-8077-0C8132529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300" b="1">
                <a:solidFill>
                  <a:srgbClr val="173E3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73E3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300" b="1">
                <a:solidFill>
                  <a:srgbClr val="173E38"/>
                </a:solidFill>
                <a:latin typeface="Liberation Sans"/>
                <a:ea typeface="Liberation Sans"/>
                <a:cs typeface="Liberation Sans"/>
              </a:rPr>
              <a:t>Research Workbench and evaluation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8FBAAB-08E4-4ECA-9817-E1A56E4DB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28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773B4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773B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0">
                <a:solidFill>
                  <a:srgbClr val="773B46"/>
                </a:solidFill>
                <a:latin typeface="Liberation Sans"/>
                <a:ea typeface="Liberation Sans"/>
                <a:cs typeface="Liberation Sans"/>
              </a:rPr>
              <a:t>Draft for review. Evaluation and deployment approval remain pending.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D357BB-069A-49B2-8748-E3962B795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52665F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2665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0">
                <a:solidFill>
                  <a:srgbClr val="52665F"/>
                </a:solidFill>
                <a:latin typeface="Liberation Sans"/>
                <a:ea typeface="Liberation Sans"/>
                <a:cs typeface="Liberation Sans"/>
              </a:rPr>
              <a:t>7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4C782C-9942-4869-8F48-21E3FE395EB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7205ad79d54a7e"/>
          <a:stretch xmlns:a="http://schemas.openxmlformats.org/drawingml/2006/main"/>
        </p:blipFill>
        <p:spPr>
          <a:xfrm xmlns:a="http://schemas.openxmlformats.org/drawingml/2006/main">
            <a:off x="7414799" y="1381125"/>
            <a:ext cx="2315402" cy="40005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1D21F6-F884-4991-83CF-760DFCD61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5524500"/>
            <a:ext cx="6000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0">
                <a:solidFill>
                  <a:srgbClr val="52665F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2665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52665F"/>
                </a:solidFill>
                <a:latin typeface="Liberation Sans"/>
                <a:ea typeface="Liberation Sans"/>
                <a:cs typeface="Liberation Sans"/>
              </a:rPr>
              <a:t>Current Workbench interface. Screenshot context appears in the asset manifest.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C351E3-5AF5-4A23-9584-879C1238F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4381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1">
                <a:solidFill>
                  <a:srgbClr val="173E3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73E3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250" b="1">
                <a:solidFill>
                  <a:srgbClr val="173E38"/>
                </a:solidFill>
                <a:latin typeface="Liberation Sans"/>
                <a:ea typeface="Liberation Sans"/>
                <a:cs typeface="Liberation Sans"/>
              </a:rPr>
              <a:t>Five development cases exercise the chain. Ten separate synthetic cases form the proposed held-out benchmark.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C9BE9C-1815-4004-9A8A-26F354326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4381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0">
                <a:solidFill>
                  <a:srgbClr val="243F39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43F39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025" b="0">
                <a:solidFill>
                  <a:srgbClr val="243F39"/>
                </a:solidFill>
                <a:latin typeface="Liberation Sans"/>
                <a:ea typeface="Liberation Sans"/>
                <a:cs typeface="Liberation Sans"/>
              </a:rPr>
              <a:t>A Run preserves inputs, configuration, extracted candidates, stage outcomes and deterministic evaluation artifacts.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0BEB54-C942-44BE-9260-12765A0BE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4381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00" b="0">
                <a:solidFill>
                  <a:srgbClr val="243F39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43F39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F39"/>
                </a:solidFill>
                <a:latin typeface="Liberation Sans"/>
                <a:ea typeface="Liberation Sans"/>
                <a:cs typeface="Liberation Sans"/>
              </a:rPr>
              <a:t>Relationship P/R/F1 compare semantic edges. Approved-quote accuracy checks true-positive edges. Source attribution evaluates assessed Evidence items separately.</a:t>
            </a:r>
          </a:p>
        </p:txBody>
      </p:sp>
    </p:spTree>
    <p:extLst>
      <p:ext uri="{BB962C8B-B14F-4D97-AF65-F5344CB8AC3E}">
        <p14:creationId xmlns:p14="http://schemas.microsoft.com/office/powerpoint/2010/main" val="52813929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675BDF-5707-4A77-B753-E517DAC01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300" b="1">
                <a:solidFill>
                  <a:srgbClr val="173E3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73E3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300" b="1">
                <a:solidFill>
                  <a:srgbClr val="173E38"/>
                </a:solidFill>
                <a:latin typeface="Liberation Sans"/>
                <a:ea typeface="Liberation Sans"/>
                <a:cs typeface="Liberation Sans"/>
              </a:rPr>
              <a:t>Held-out benchmark status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389056-560B-4BFF-9AEA-3BAF60844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28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773B4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773B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0">
                <a:solidFill>
                  <a:srgbClr val="773B46"/>
                </a:solidFill>
                <a:latin typeface="Liberation Sans"/>
                <a:ea typeface="Liberation Sans"/>
                <a:cs typeface="Liberation Sans"/>
              </a:rPr>
              <a:t>Draft for review. Evaluation and deployment approval remain pending.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73F511-1047-4C62-8D7B-49E2035BD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52665F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2665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0">
                <a:solidFill>
                  <a:srgbClr val="52665F"/>
                </a:solidFill>
                <a:latin typeface="Liberation Sans"/>
                <a:ea typeface="Liberation Sans"/>
                <a:cs typeface="Liberation Sans"/>
              </a:rPr>
              <a:t>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9CC991-C20D-4D1C-9D1B-304324482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1066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900" b="1">
                <a:solidFill>
                  <a:srgbClr val="173E3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3900" b="1">
                <a:solidFill>
                  <a:srgbClr val="173E3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900" b="1">
                <a:solidFill>
                  <a:srgbClr val="173E38"/>
                </a:solidFill>
                <a:latin typeface="Liberation Sans"/>
                <a:ea typeface="Liberation Sans"/>
                <a:cs typeface="Liberation Sans"/>
              </a:rPr>
              <a:t>10 synthetic cases</a:t>
            </a:r>
          </a:p>
          <a:p xmlns:a="http://schemas.openxmlformats.org/drawingml/2006/main">
            <a:pPr>
              <a:defRPr sz="3900" b="1">
                <a:solidFill>
                  <a:srgbClr val="173E3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900" b="1">
                <a:solidFill>
                  <a:srgbClr val="173E38"/>
                </a:solidFill>
                <a:latin typeface="Liberation Sans"/>
                <a:ea typeface="Liberation Sans"/>
                <a:cs typeface="Liberation Sans"/>
              </a:rPr>
              <a:t>39 current relationships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8B32BD-EDC8-40FE-AD80-A17A5A8D3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0"/>
            <a:ext cx="10477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325" b="0">
                <a:solidFill>
                  <a:srgbClr val="243F39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243F39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325" b="0">
                <a:solidFill>
                  <a:srgbClr val="243F39"/>
                </a:solidFill>
                <a:latin typeface="Liberation Sans"/>
                <a:ea typeface="Liberation Sans"/>
                <a:cs typeface="Liberation Sans"/>
              </a:rPr>
              <a:t>Independent fixture review covers exact Source attribution and supported current relationships. Benchmark approval and the frozen-chain evaluation remain pending.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80B5E1-8307-4DA4-8BE6-CFD0A3CD2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81625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0">
                <a:solidFill>
                  <a:srgbClr val="773B4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773B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025" b="0">
                <a:solidFill>
                  <a:srgbClr val="773B46"/>
                </a:solidFill>
                <a:latin typeface="Liberation Sans"/>
                <a:ea typeface="Liberation Sans"/>
                <a:cs typeface="Liberation Sans"/>
              </a:rPr>
              <a:t>No held-out precision, recall, F1 or provider cost is claimed in this draft.</a:t>
            </a:r>
          </a:p>
        </p:txBody>
      </p:sp>
    </p:spTree>
    <p:extLst>
      <p:ext uri="{BB962C8B-B14F-4D97-AF65-F5344CB8AC3E}">
        <p14:creationId xmlns:p14="http://schemas.microsoft.com/office/powerpoint/2010/main" val="119398160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7231BB-CE93-4E46-9766-C68404C40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300" b="1">
                <a:solidFill>
                  <a:srgbClr val="173E3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73E3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300" b="1">
                <a:solidFill>
                  <a:srgbClr val="173E38"/>
                </a:solidFill>
                <a:latin typeface="Liberation Sans"/>
                <a:ea typeface="Liberation Sans"/>
                <a:cs typeface="Liberation Sans"/>
              </a:rPr>
              <a:t>Findings and limitations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C5CF88-42E5-48A7-A6B3-BB03ADF2B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28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773B4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773B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0">
                <a:solidFill>
                  <a:srgbClr val="773B46"/>
                </a:solidFill>
                <a:latin typeface="Liberation Sans"/>
                <a:ea typeface="Liberation Sans"/>
                <a:cs typeface="Liberation Sans"/>
              </a:rPr>
              <a:t>Draft for review. Evaluation and deployment approval remain pending.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6FD748-CF1D-43D2-B2BD-7E9FA726E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52665F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2665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0">
                <a:solidFill>
                  <a:srgbClr val="52665F"/>
                </a:solidFill>
                <a:latin typeface="Liberation Sans"/>
                <a:ea typeface="Liberation Sans"/>
                <a:cs typeface="Liberation Sans"/>
              </a:rPr>
              <a:t>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E3C947-229E-48C1-B9A8-33D005093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400" b="1">
                <a:solidFill>
                  <a:srgbClr val="173E3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173E3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400" b="1">
                <a:solidFill>
                  <a:srgbClr val="173E38"/>
                </a:solidFill>
                <a:latin typeface="Liberation Sans"/>
                <a:ea typeface="Liberation Sans"/>
                <a:cs typeface="Liberation Sans"/>
              </a:rPr>
              <a:t>Limits of the current evidence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AD1AEA-E2C6-4967-82BF-284EC7538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10668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75" b="0">
                <a:solidFill>
                  <a:srgbClr val="243F39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43F39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175" b="0">
                <a:solidFill>
                  <a:srgbClr val="243F39"/>
                </a:solidFill>
                <a:latin typeface="Liberation Sans"/>
                <a:ea typeface="Liberation Sans"/>
                <a:cs typeface="Liberation Sans"/>
              </a:rPr>
              <a:t>The held-out examples are small, explicit and synthetic. They test specific difficulties and offer limited evidence of robustness on practice documents.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314EB4-AE26-4E73-9C7B-99DF05DB8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62375"/>
            <a:ext cx="10668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75" b="0">
                <a:solidFill>
                  <a:srgbClr val="243F39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43F39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175" b="0">
                <a:solidFill>
                  <a:srgbClr val="243F39"/>
                </a:solidFill>
                <a:latin typeface="Liberation Sans"/>
                <a:ea typeface="Liberation Sans"/>
                <a:cs typeface="Liberation Sans"/>
              </a:rPr>
              <a:t>Exact occurrence and approved-quote scoring cannot establish legal correctness. Curated examples demonstrate review behaviour, not extraction accuracy.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9FBD50-0A3D-4AB3-920D-5E1A8DF61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76875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52665F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2665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 b="0">
                <a:solidFill>
                  <a:srgbClr val="52665F"/>
                </a:solidFill>
                <a:latin typeface="Liberation Sans"/>
                <a:ea typeface="Liberation Sans"/>
                <a:cs typeface="Liberation Sans"/>
              </a:rPr>
              <a:t>Synthetic material only. Text-layer PDFs only. Whole-proposal confirmation. Real client use needs a separate data-handling and tenancy design.</a:t>
            </a:r>
          </a:p>
        </p:txBody>
      </p:sp>
    </p:spTree>
    <p:extLst>
      <p:ext uri="{BB962C8B-B14F-4D97-AF65-F5344CB8AC3E}">
        <p14:creationId xmlns:p14="http://schemas.microsoft.com/office/powerpoint/2010/main" val="87089147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EAEDEF-D80B-4DA4-B40E-3EC5FFA00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300" b="1">
                <a:solidFill>
                  <a:srgbClr val="173E3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73E3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300" b="1">
                <a:solidFill>
                  <a:srgbClr val="173E38"/>
                </a:solidFill>
                <a:latin typeface="Liberation Sans"/>
                <a:ea typeface="Liberation Sans"/>
                <a:cs typeface="Liberation Sans"/>
              </a:rPr>
              <a:t>Conclusion and demonstration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51B80B-FE2D-4DA1-A9A1-6D050AD2E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28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773B4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773B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0">
                <a:solidFill>
                  <a:srgbClr val="773B46"/>
                </a:solidFill>
                <a:latin typeface="Liberation Sans"/>
                <a:ea typeface="Liberation Sans"/>
                <a:cs typeface="Liberation Sans"/>
              </a:rPr>
              <a:t>Draft for review. Evaluation and deployment approval remain pending.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796CAE-7593-45B1-BDD0-079AD59AA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52665F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2665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0">
                <a:solidFill>
                  <a:srgbClr val="52665F"/>
                </a:solidFill>
                <a:latin typeface="Liberation Sans"/>
                <a:ea typeface="Liberation Sans"/>
                <a:cs typeface="Liberation Sans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866A23-489D-423E-9DFB-8249BFF0F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5727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925" b="1">
                <a:solidFill>
                  <a:srgbClr val="173E3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2925" b="1">
                <a:solidFill>
                  <a:srgbClr val="173E3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925" b="1">
                <a:solidFill>
                  <a:srgbClr val="173E38"/>
                </a:solidFill>
                <a:latin typeface="Liberation Sans"/>
                <a:ea typeface="Liberation Sans"/>
                <a:cs typeface="Liberation Sans"/>
              </a:rPr>
              <a:t>A bounded extraction system with inspectable Evidence and explicit professional confirmation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F32986-1799-49E9-8196-333E7D22B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76625"/>
            <a:ext cx="10572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0">
                <a:solidFill>
                  <a:srgbClr val="243F39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43F39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250" b="0">
                <a:solidFill>
                  <a:srgbClr val="243F39"/>
                </a:solidFill>
                <a:latin typeface="Liberation Sans"/>
                <a:ea typeface="Liberation Sans"/>
                <a:cs typeface="Liberation Sans"/>
              </a:rPr>
              <a:t>The next evidence should come from broader documents and practitioner feedback. Real-client ingestion requires a separately approved security and data design.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CDAB20-3AA6-4F27-BBF9-EAA69DA6A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9587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1">
                <a:solidFill>
                  <a:srgbClr val="173E3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73E3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025" b="1">
                <a:solidFill>
                  <a:srgbClr val="173E38"/>
                </a:solidFill>
                <a:latin typeface="Liberation Sans"/>
                <a:ea typeface="Liberation Sans"/>
                <a:cs typeface="Liberation Sans"/>
              </a:rPr>
              <a:t>https://private-client-graph-production.up.railway.app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3E4E61-D114-4374-ABA3-65A1F8924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108108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00" b="0">
                <a:solidFill>
                  <a:srgbClr val="52665F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2665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52665F"/>
                </a:solidFill>
                <a:latin typeface="Liberation Sans"/>
                <a:ea typeface="Liberation Sans"/>
                <a:cs typeface="Liberation Sans"/>
              </a:rPr>
              <a:t>The public service currently has the earlier Case 01 demo. The reviewed multi-source build remains a local preview pending deployment approval.</a:t>
            </a:r>
          </a:p>
        </p:txBody>
      </p:sp>
    </p:spTree>
    <p:extLst>
      <p:ext uri="{BB962C8B-B14F-4D97-AF65-F5344CB8AC3E}">
        <p14:creationId xmlns:p14="http://schemas.microsoft.com/office/powerpoint/2010/main" val="8843184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Liberation Sans"/>
        <a:ea typeface=""/>
        <a:cs typeface=""/>
      </a:majorFont>
      <a:minorFont>
        <a:latin typeface="Liberation San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2026-10-17T04:46:23.5500000Z</dcterms:created>
  <dcterms:modified xsi:type="dcterms:W3CDTF">2026-10-17T04:46:23.5500000Z</dcterms:modified>
</coreProperties>
</file>